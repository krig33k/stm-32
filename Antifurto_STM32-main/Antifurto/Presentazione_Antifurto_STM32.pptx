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1" r:id="rId9"/>
    <p:sldId id="271" r:id="rId10"/>
    <p:sldId id="272" r:id="rId11"/>
    <p:sldId id="273" r:id="rId12"/>
    <p:sldId id="267" r:id="rId13"/>
    <p:sldId id="270" r:id="rId14"/>
    <p:sldId id="269" r:id="rId15"/>
    <p:sldId id="268" r:id="rId16"/>
    <p:sldId id="274" r:id="rId17"/>
    <p:sldId id="263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D15CAF-1A1A-4F6E-BE8D-9A8503049FE9}" v="3" dt="2025-07-04T15:16:13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3"/>
  </p:normalViewPr>
  <p:slideViewPr>
    <p:cSldViewPr snapToGrid="0" snapToObjects="1">
      <p:cViewPr varScale="1">
        <p:scale>
          <a:sx n="150" d="100"/>
          <a:sy n="150" d="100"/>
        </p:scale>
        <p:origin x="20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PRISCO" userId="7e274f2a-5efa-4cac-b62e-2643f8b3bccf" providerId="ADAL" clId="{5012EAE1-617E-B84A-A1C8-0FE13FD6D6A3}"/>
    <pc:docChg chg="undo custSel addSld modSld sldOrd">
      <pc:chgData name="FRANCESCO PRISCO" userId="7e274f2a-5efa-4cac-b62e-2643f8b3bccf" providerId="ADAL" clId="{5012EAE1-617E-B84A-A1C8-0FE13FD6D6A3}" dt="2025-07-05T09:05:49.204" v="265" actId="20577"/>
      <pc:docMkLst>
        <pc:docMk/>
      </pc:docMkLst>
      <pc:sldChg chg="modSp">
        <pc:chgData name="FRANCESCO PRISCO" userId="7e274f2a-5efa-4cac-b62e-2643f8b3bccf" providerId="ADAL" clId="{5012EAE1-617E-B84A-A1C8-0FE13FD6D6A3}" dt="2025-07-05T08:44:02.277" v="96" actId="20577"/>
        <pc:sldMkLst>
          <pc:docMk/>
          <pc:sldMk cId="0" sldId="256"/>
        </pc:sldMkLst>
        <pc:spChg chg="mod">
          <ac:chgData name="FRANCESCO PRISCO" userId="7e274f2a-5efa-4cac-b62e-2643f8b3bccf" providerId="ADAL" clId="{5012EAE1-617E-B84A-A1C8-0FE13FD6D6A3}" dt="2025-07-05T08:44:02.277" v="9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FRANCESCO PRISCO" userId="7e274f2a-5efa-4cac-b62e-2643f8b3bccf" providerId="ADAL" clId="{5012EAE1-617E-B84A-A1C8-0FE13FD6D6A3}" dt="2025-07-05T08:45:32.813" v="174" actId="20577"/>
        <pc:sldMkLst>
          <pc:docMk/>
          <pc:sldMk cId="0" sldId="258"/>
        </pc:sldMkLst>
        <pc:spChg chg="mod">
          <ac:chgData name="FRANCESCO PRISCO" userId="7e274f2a-5efa-4cac-b62e-2643f8b3bccf" providerId="ADAL" clId="{5012EAE1-617E-B84A-A1C8-0FE13FD6D6A3}" dt="2025-07-05T08:45:32.813" v="174" actId="20577"/>
          <ac:spMkLst>
            <pc:docMk/>
            <pc:sldMk cId="0" sldId="258"/>
            <ac:spMk id="3" creationId="{00000000-0000-0000-0000-000000000000}"/>
          </ac:spMkLst>
        </pc:spChg>
      </pc:sldChg>
      <pc:sldChg chg="ord">
        <pc:chgData name="FRANCESCO PRISCO" userId="7e274f2a-5efa-4cac-b62e-2643f8b3bccf" providerId="ADAL" clId="{5012EAE1-617E-B84A-A1C8-0FE13FD6D6A3}" dt="2025-07-05T09:00:27.938" v="258" actId="1076"/>
        <pc:sldMkLst>
          <pc:docMk/>
          <pc:sldMk cId="0" sldId="262"/>
        </pc:sldMkLst>
      </pc:sldChg>
      <pc:sldChg chg="modSp">
        <pc:chgData name="FRANCESCO PRISCO" userId="7e274f2a-5efa-4cac-b62e-2643f8b3bccf" providerId="ADAL" clId="{5012EAE1-617E-B84A-A1C8-0FE13FD6D6A3}" dt="2025-07-05T09:05:49.204" v="265" actId="20577"/>
        <pc:sldMkLst>
          <pc:docMk/>
          <pc:sldMk cId="0" sldId="263"/>
        </pc:sldMkLst>
        <pc:spChg chg="mod">
          <ac:chgData name="FRANCESCO PRISCO" userId="7e274f2a-5efa-4cac-b62e-2643f8b3bccf" providerId="ADAL" clId="{5012EAE1-617E-B84A-A1C8-0FE13FD6D6A3}" dt="2025-07-05T09:05:49.204" v="265" actId="20577"/>
          <ac:spMkLst>
            <pc:docMk/>
            <pc:sldMk cId="0" sldId="263"/>
            <ac:spMk id="3" creationId="{00000000-0000-0000-0000-000000000000}"/>
          </ac:spMkLst>
        </pc:spChg>
      </pc:sldChg>
      <pc:sldChg chg="ord">
        <pc:chgData name="FRANCESCO PRISCO" userId="7e274f2a-5efa-4cac-b62e-2643f8b3bccf" providerId="ADAL" clId="{5012EAE1-617E-B84A-A1C8-0FE13FD6D6A3}" dt="2025-07-05T09:00:31.002" v="259" actId="1076"/>
        <pc:sldMkLst>
          <pc:docMk/>
          <pc:sldMk cId="0" sldId="264"/>
        </pc:sldMkLst>
      </pc:sldChg>
      <pc:sldChg chg="modSp">
        <pc:chgData name="FRANCESCO PRISCO" userId="7e274f2a-5efa-4cac-b62e-2643f8b3bccf" providerId="ADAL" clId="{5012EAE1-617E-B84A-A1C8-0FE13FD6D6A3}" dt="2025-07-05T08:58:34.623" v="255" actId="207"/>
        <pc:sldMkLst>
          <pc:docMk/>
          <pc:sldMk cId="122918373" sldId="267"/>
        </pc:sldMkLst>
        <pc:spChg chg="mod">
          <ac:chgData name="FRANCESCO PRISCO" userId="7e274f2a-5efa-4cac-b62e-2643f8b3bccf" providerId="ADAL" clId="{5012EAE1-617E-B84A-A1C8-0FE13FD6D6A3}" dt="2025-07-05T08:58:34.623" v="255" actId="207"/>
          <ac:spMkLst>
            <pc:docMk/>
            <pc:sldMk cId="122918373" sldId="267"/>
            <ac:spMk id="63" creationId="{FE1A26E1-F973-F2CF-EFCD-5D0EF0B442D0}"/>
          </ac:spMkLst>
        </pc:spChg>
      </pc:sldChg>
      <pc:sldChg chg="modSp">
        <pc:chgData name="FRANCESCO PRISCO" userId="7e274f2a-5efa-4cac-b62e-2643f8b3bccf" providerId="ADAL" clId="{5012EAE1-617E-B84A-A1C8-0FE13FD6D6A3}" dt="2025-07-05T09:03:43.556" v="263" actId="20577"/>
        <pc:sldMkLst>
          <pc:docMk/>
          <pc:sldMk cId="3691256371" sldId="274"/>
        </pc:sldMkLst>
        <pc:spChg chg="mod">
          <ac:chgData name="FRANCESCO PRISCO" userId="7e274f2a-5efa-4cac-b62e-2643f8b3bccf" providerId="ADAL" clId="{5012EAE1-617E-B84A-A1C8-0FE13FD6D6A3}" dt="2025-07-05T09:03:43.556" v="263" actId="20577"/>
          <ac:spMkLst>
            <pc:docMk/>
            <pc:sldMk cId="3691256371" sldId="274"/>
            <ac:spMk id="2" creationId="{A1B684FD-76A2-8AB3-8028-40BDF92D9229}"/>
          </ac:spMkLst>
        </pc:spChg>
      </pc:sldChg>
      <pc:sldChg chg="add">
        <pc:chgData name="FRANCESCO PRISCO" userId="7e274f2a-5efa-4cac-b62e-2643f8b3bccf" providerId="ADAL" clId="{5012EAE1-617E-B84A-A1C8-0FE13FD6D6A3}" dt="2025-07-05T08:53:51.339" v="175" actId="22"/>
        <pc:sldMkLst>
          <pc:docMk/>
          <pc:sldMk cId="2964219741" sldId="275"/>
        </pc:sldMkLst>
      </pc:sldChg>
    </pc:docChg>
  </pc:docChgLst>
  <pc:docChgLst>
    <pc:chgData name="LUCA DE FILIPPO" userId="ffcda7b3-4301-476d-83ad-983767f07352" providerId="ADAL" clId="{EDD15CAF-1A1A-4F6E-BE8D-9A8503049FE9}"/>
    <pc:docChg chg="undo custSel addSld delSld modSld sldOrd">
      <pc:chgData name="LUCA DE FILIPPO" userId="ffcda7b3-4301-476d-83ad-983767f07352" providerId="ADAL" clId="{EDD15CAF-1A1A-4F6E-BE8D-9A8503049FE9}" dt="2025-07-06T08:24:24.282" v="213" actId="2696"/>
      <pc:docMkLst>
        <pc:docMk/>
      </pc:docMkLst>
      <pc:sldChg chg="modSp mod">
        <pc:chgData name="LUCA DE FILIPPO" userId="ffcda7b3-4301-476d-83ad-983767f07352" providerId="ADAL" clId="{EDD15CAF-1A1A-4F6E-BE8D-9A8503049FE9}" dt="2025-07-06T08:15:42.040" v="135" actId="20577"/>
        <pc:sldMkLst>
          <pc:docMk/>
          <pc:sldMk cId="0" sldId="257"/>
        </pc:sldMkLst>
        <pc:spChg chg="mod">
          <ac:chgData name="LUCA DE FILIPPO" userId="ffcda7b3-4301-476d-83ad-983767f07352" providerId="ADAL" clId="{EDD15CAF-1A1A-4F6E-BE8D-9A8503049FE9}" dt="2025-07-06T08:15:42.040" v="135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CA DE FILIPPO" userId="ffcda7b3-4301-476d-83ad-983767f07352" providerId="ADAL" clId="{EDD15CAF-1A1A-4F6E-BE8D-9A8503049FE9}" dt="2025-07-06T08:16:49.959" v="173" actId="20577"/>
        <pc:sldMkLst>
          <pc:docMk/>
          <pc:sldMk cId="0" sldId="259"/>
        </pc:sldMkLst>
        <pc:spChg chg="mod">
          <ac:chgData name="LUCA DE FILIPPO" userId="ffcda7b3-4301-476d-83ad-983767f07352" providerId="ADAL" clId="{EDD15CAF-1A1A-4F6E-BE8D-9A8503049FE9}" dt="2025-07-06T08:16:49.959" v="173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CA DE FILIPPO" userId="ffcda7b3-4301-476d-83ad-983767f07352" providerId="ADAL" clId="{EDD15CAF-1A1A-4F6E-BE8D-9A8503049FE9}" dt="2025-07-04T15:09:48.451" v="29" actId="20577"/>
        <pc:sldMkLst>
          <pc:docMk/>
          <pc:sldMk cId="0" sldId="261"/>
        </pc:sldMkLst>
        <pc:spChg chg="mod">
          <ac:chgData name="LUCA DE FILIPPO" userId="ffcda7b3-4301-476d-83ad-983767f07352" providerId="ADAL" clId="{EDD15CAF-1A1A-4F6E-BE8D-9A8503049FE9}" dt="2025-07-04T15:09:48.451" v="29" actId="20577"/>
          <ac:spMkLst>
            <pc:docMk/>
            <pc:sldMk cId="0" sldId="261"/>
            <ac:spMk id="2" creationId="{00000000-0000-0000-0000-000000000000}"/>
          </ac:spMkLst>
        </pc:spChg>
      </pc:sldChg>
      <pc:sldChg chg="del">
        <pc:chgData name="LUCA DE FILIPPO" userId="ffcda7b3-4301-476d-83ad-983767f07352" providerId="ADAL" clId="{EDD15CAF-1A1A-4F6E-BE8D-9A8503049FE9}" dt="2025-07-06T08:24:22.241" v="212" actId="2696"/>
        <pc:sldMkLst>
          <pc:docMk/>
          <pc:sldMk cId="0" sldId="262"/>
        </pc:sldMkLst>
      </pc:sldChg>
      <pc:sldChg chg="modSp mod">
        <pc:chgData name="LUCA DE FILIPPO" userId="ffcda7b3-4301-476d-83ad-983767f07352" providerId="ADAL" clId="{EDD15CAF-1A1A-4F6E-BE8D-9A8503049FE9}" dt="2025-07-06T08:23:37.816" v="210" actId="20577"/>
        <pc:sldMkLst>
          <pc:docMk/>
          <pc:sldMk cId="0" sldId="263"/>
        </pc:sldMkLst>
        <pc:spChg chg="mod">
          <ac:chgData name="LUCA DE FILIPPO" userId="ffcda7b3-4301-476d-83ad-983767f07352" providerId="ADAL" clId="{EDD15CAF-1A1A-4F6E-BE8D-9A8503049FE9}" dt="2025-07-06T08:23:37.816" v="210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LUCA DE FILIPPO" userId="ffcda7b3-4301-476d-83ad-983767f07352" providerId="ADAL" clId="{EDD15CAF-1A1A-4F6E-BE8D-9A8503049FE9}" dt="2025-07-06T08:23:51.684" v="211" actId="20577"/>
        <pc:sldMkLst>
          <pc:docMk/>
          <pc:sldMk cId="0" sldId="264"/>
        </pc:sldMkLst>
        <pc:spChg chg="mod">
          <ac:chgData name="LUCA DE FILIPPO" userId="ffcda7b3-4301-476d-83ad-983767f07352" providerId="ADAL" clId="{EDD15CAF-1A1A-4F6E-BE8D-9A8503049FE9}" dt="2025-07-06T08:23:51.684" v="211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LUCA DE FILIPPO" userId="ffcda7b3-4301-476d-83ad-983767f07352" providerId="ADAL" clId="{EDD15CAF-1A1A-4F6E-BE8D-9A8503049FE9}" dt="2025-07-06T08:17:16.730" v="188" actId="20577"/>
        <pc:sldMkLst>
          <pc:docMk/>
          <pc:sldMk cId="3060240940" sldId="265"/>
        </pc:sldMkLst>
        <pc:spChg chg="mod">
          <ac:chgData name="LUCA DE FILIPPO" userId="ffcda7b3-4301-476d-83ad-983767f07352" providerId="ADAL" clId="{EDD15CAF-1A1A-4F6E-BE8D-9A8503049FE9}" dt="2025-07-06T08:17:16.730" v="188" actId="20577"/>
          <ac:spMkLst>
            <pc:docMk/>
            <pc:sldMk cId="3060240940" sldId="265"/>
            <ac:spMk id="3" creationId="{F6FDEA62-F1F7-1A65-7944-F8DC3DF54BCA}"/>
          </ac:spMkLst>
        </pc:spChg>
      </pc:sldChg>
      <pc:sldChg chg="modSp mod ord">
        <pc:chgData name="LUCA DE FILIPPO" userId="ffcda7b3-4301-476d-83ad-983767f07352" providerId="ADAL" clId="{EDD15CAF-1A1A-4F6E-BE8D-9A8503049FE9}" dt="2025-07-04T15:09:56.602" v="35" actId="20577"/>
        <pc:sldMkLst>
          <pc:docMk/>
          <pc:sldMk cId="2835536375" sldId="271"/>
        </pc:sldMkLst>
        <pc:spChg chg="mod">
          <ac:chgData name="LUCA DE FILIPPO" userId="ffcda7b3-4301-476d-83ad-983767f07352" providerId="ADAL" clId="{EDD15CAF-1A1A-4F6E-BE8D-9A8503049FE9}" dt="2025-07-04T15:09:56.602" v="35" actId="20577"/>
          <ac:spMkLst>
            <pc:docMk/>
            <pc:sldMk cId="2835536375" sldId="271"/>
            <ac:spMk id="2" creationId="{F564BC87-7D79-AC04-F020-588E508F1222}"/>
          </ac:spMkLst>
        </pc:spChg>
      </pc:sldChg>
      <pc:sldChg chg="modSp mod ord">
        <pc:chgData name="LUCA DE FILIPPO" userId="ffcda7b3-4301-476d-83ad-983767f07352" providerId="ADAL" clId="{EDD15CAF-1A1A-4F6E-BE8D-9A8503049FE9}" dt="2025-07-04T15:10:02.412" v="39" actId="20577"/>
        <pc:sldMkLst>
          <pc:docMk/>
          <pc:sldMk cId="1874944088" sldId="272"/>
        </pc:sldMkLst>
        <pc:spChg chg="mod">
          <ac:chgData name="LUCA DE FILIPPO" userId="ffcda7b3-4301-476d-83ad-983767f07352" providerId="ADAL" clId="{EDD15CAF-1A1A-4F6E-BE8D-9A8503049FE9}" dt="2025-07-04T15:10:02.412" v="39" actId="20577"/>
          <ac:spMkLst>
            <pc:docMk/>
            <pc:sldMk cId="1874944088" sldId="272"/>
            <ac:spMk id="2" creationId="{554CCBEC-6D2E-8482-7F28-8A0108EADF1A}"/>
          </ac:spMkLst>
        </pc:spChg>
      </pc:sldChg>
      <pc:sldChg chg="modSp mod ord">
        <pc:chgData name="LUCA DE FILIPPO" userId="ffcda7b3-4301-476d-83ad-983767f07352" providerId="ADAL" clId="{EDD15CAF-1A1A-4F6E-BE8D-9A8503049FE9}" dt="2025-07-04T15:10:09.201" v="45" actId="20577"/>
        <pc:sldMkLst>
          <pc:docMk/>
          <pc:sldMk cId="3091473634" sldId="273"/>
        </pc:sldMkLst>
        <pc:spChg chg="mod">
          <ac:chgData name="LUCA DE FILIPPO" userId="ffcda7b3-4301-476d-83ad-983767f07352" providerId="ADAL" clId="{EDD15CAF-1A1A-4F6E-BE8D-9A8503049FE9}" dt="2025-07-04T15:10:09.201" v="45" actId="20577"/>
          <ac:spMkLst>
            <pc:docMk/>
            <pc:sldMk cId="3091473634" sldId="273"/>
            <ac:spMk id="2" creationId="{7CFECACC-EE94-B188-9620-902404E3074A}"/>
          </ac:spMkLst>
        </pc:spChg>
      </pc:sldChg>
      <pc:sldChg chg="new del">
        <pc:chgData name="LUCA DE FILIPPO" userId="ffcda7b3-4301-476d-83ad-983767f07352" providerId="ADAL" clId="{EDD15CAF-1A1A-4F6E-BE8D-9A8503049FE9}" dt="2025-07-04T15:11:01.722" v="47" actId="680"/>
        <pc:sldMkLst>
          <pc:docMk/>
          <pc:sldMk cId="2277682284" sldId="274"/>
        </pc:sldMkLst>
      </pc:sldChg>
      <pc:sldChg chg="modSp new del mod">
        <pc:chgData name="LUCA DE FILIPPO" userId="ffcda7b3-4301-476d-83ad-983767f07352" providerId="ADAL" clId="{EDD15CAF-1A1A-4F6E-BE8D-9A8503049FE9}" dt="2025-07-04T15:11:59.603" v="72" actId="680"/>
        <pc:sldMkLst>
          <pc:docMk/>
          <pc:sldMk cId="3214139764" sldId="274"/>
        </pc:sldMkLst>
      </pc:sldChg>
      <pc:sldChg chg="addSp delSp modSp new mod ord">
        <pc:chgData name="LUCA DE FILIPPO" userId="ffcda7b3-4301-476d-83ad-983767f07352" providerId="ADAL" clId="{EDD15CAF-1A1A-4F6E-BE8D-9A8503049FE9}" dt="2025-07-04T15:17:18.200" v="134" actId="1076"/>
        <pc:sldMkLst>
          <pc:docMk/>
          <pc:sldMk cId="3691256371" sldId="274"/>
        </pc:sldMkLst>
        <pc:spChg chg="mod">
          <ac:chgData name="LUCA DE FILIPPO" userId="ffcda7b3-4301-476d-83ad-983767f07352" providerId="ADAL" clId="{EDD15CAF-1A1A-4F6E-BE8D-9A8503049FE9}" dt="2025-07-04T15:16:49.512" v="125" actId="20577"/>
          <ac:spMkLst>
            <pc:docMk/>
            <pc:sldMk cId="3691256371" sldId="274"/>
            <ac:spMk id="2" creationId="{A1B684FD-76A2-8AB3-8028-40BDF92D9229}"/>
          </ac:spMkLst>
        </pc:spChg>
        <pc:picChg chg="add mod">
          <ac:chgData name="LUCA DE FILIPPO" userId="ffcda7b3-4301-476d-83ad-983767f07352" providerId="ADAL" clId="{EDD15CAF-1A1A-4F6E-BE8D-9A8503049FE9}" dt="2025-07-04T15:17:18.200" v="134" actId="1076"/>
          <ac:picMkLst>
            <pc:docMk/>
            <pc:sldMk cId="3691256371" sldId="274"/>
            <ac:picMk id="5" creationId="{D3AB8096-52A6-593F-4C92-BCBB9E108F2D}"/>
          </ac:picMkLst>
        </pc:picChg>
      </pc:sldChg>
      <pc:sldChg chg="del">
        <pc:chgData name="LUCA DE FILIPPO" userId="ffcda7b3-4301-476d-83ad-983767f07352" providerId="ADAL" clId="{EDD15CAF-1A1A-4F6E-BE8D-9A8503049FE9}" dt="2025-07-06T08:24:24.282" v="213" actId="2696"/>
        <pc:sldMkLst>
          <pc:docMk/>
          <pc:sldMk cId="2964219741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1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0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2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1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1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1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0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74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6035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35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58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02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90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3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80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Progetto Antifurto con STM32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Rilevamento</a:t>
            </a:r>
            <a:r>
              <a:rPr dirty="0"/>
              <a:t> </a:t>
            </a:r>
            <a:r>
              <a:rPr dirty="0" err="1"/>
              <a:t>movimento</a:t>
            </a:r>
            <a:r>
              <a:rPr dirty="0"/>
              <a:t>, </a:t>
            </a:r>
            <a:r>
              <a:rPr dirty="0" err="1"/>
              <a:t>comunicazione</a:t>
            </a:r>
            <a:r>
              <a:rPr dirty="0"/>
              <a:t> USART e </a:t>
            </a:r>
            <a:r>
              <a:rPr dirty="0" err="1"/>
              <a:t>ridondanza</a:t>
            </a:r>
            <a:endParaRPr dirty="0"/>
          </a:p>
          <a:p>
            <a:r>
              <a:rPr dirty="0" err="1"/>
              <a:t>Autori</a:t>
            </a:r>
            <a:r>
              <a:rPr dirty="0"/>
              <a:t>: </a:t>
            </a:r>
            <a:r>
              <a:rPr lang="it-IT" dirty="0"/>
              <a:t>Francesco Prisco, luca de Filippo, Christian morelli.</a:t>
            </a:r>
            <a:endParaRPr dirty="0"/>
          </a:p>
          <a:p>
            <a:r>
              <a:rPr dirty="0"/>
              <a:t>Corso: </a:t>
            </a:r>
            <a:r>
              <a:rPr dirty="0" err="1"/>
              <a:t>Architettura</a:t>
            </a:r>
            <a:r>
              <a:rPr dirty="0"/>
              <a:t> e </a:t>
            </a:r>
            <a:r>
              <a:rPr dirty="0" err="1"/>
              <a:t>Progetto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Calcolatori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Obiettivo del Progetto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055379" cy="4195481"/>
          </a:xfrm>
        </p:spPr>
        <p:txBody>
          <a:bodyPr/>
          <a:lstStyle/>
          <a:p>
            <a:endParaRPr dirty="0"/>
          </a:p>
          <a:p>
            <a:r>
              <a:rPr dirty="0" err="1"/>
              <a:t>Simulare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antifurto</a:t>
            </a:r>
            <a:r>
              <a:rPr dirty="0"/>
              <a:t> </a:t>
            </a:r>
            <a:r>
              <a:rPr dirty="0" err="1"/>
              <a:t>completo</a:t>
            </a:r>
            <a:endParaRPr dirty="0"/>
          </a:p>
          <a:p>
            <a:r>
              <a:rPr dirty="0"/>
              <a:t>Composto da </a:t>
            </a:r>
            <a:r>
              <a:rPr dirty="0" err="1"/>
              <a:t>tre</a:t>
            </a:r>
            <a:r>
              <a:rPr dirty="0"/>
              <a:t> board STM32F303 Discovery</a:t>
            </a:r>
          </a:p>
          <a:p>
            <a:r>
              <a:rPr dirty="0" err="1"/>
              <a:t>Rilevamento</a:t>
            </a:r>
            <a:r>
              <a:rPr dirty="0"/>
              <a:t> del </a:t>
            </a:r>
            <a:r>
              <a:rPr dirty="0" err="1"/>
              <a:t>movimento</a:t>
            </a:r>
            <a:r>
              <a:rPr dirty="0"/>
              <a:t> con </a:t>
            </a:r>
            <a:r>
              <a:rPr dirty="0" err="1"/>
              <a:t>sensore</a:t>
            </a:r>
            <a:r>
              <a:rPr dirty="0"/>
              <a:t> </a:t>
            </a:r>
            <a:r>
              <a:rPr lang="it-IT" dirty="0"/>
              <a:t>HC-SR04</a:t>
            </a:r>
            <a:endParaRPr dirty="0"/>
          </a:p>
          <a:p>
            <a:r>
              <a:rPr dirty="0" err="1"/>
              <a:t>Comunicazione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le board via UART</a:t>
            </a:r>
            <a:r>
              <a:rPr lang="it-IT" dirty="0"/>
              <a:t> A&lt;=&gt;B A=&gt;C</a:t>
            </a:r>
            <a:endParaRPr dirty="0"/>
          </a:p>
          <a:p>
            <a:r>
              <a:rPr dirty="0" err="1"/>
              <a:t>Allarme</a:t>
            </a:r>
            <a:r>
              <a:rPr dirty="0"/>
              <a:t> </a:t>
            </a:r>
            <a:r>
              <a:rPr dirty="0" err="1"/>
              <a:t>attivo</a:t>
            </a:r>
            <a:r>
              <a:rPr dirty="0"/>
              <a:t> </a:t>
            </a:r>
            <a:r>
              <a:rPr dirty="0" err="1"/>
              <a:t>tramite</a:t>
            </a:r>
            <a:r>
              <a:rPr dirty="0"/>
              <a:t> buzzer</a:t>
            </a:r>
          </a:p>
          <a:p>
            <a:r>
              <a:rPr dirty="0" err="1"/>
              <a:t>Ridondanza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board </a:t>
            </a:r>
            <a:r>
              <a:rPr lang="it-IT" dirty="0"/>
              <a:t>C </a:t>
            </a:r>
            <a:r>
              <a:rPr dirty="0" err="1"/>
              <a:t>dormiente</a:t>
            </a:r>
            <a:r>
              <a:rPr dirty="0"/>
              <a:t> di backup</a:t>
            </a:r>
            <a:r>
              <a:rPr lang="it-IT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Architettura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331259"/>
            <a:ext cx="8002717" cy="5167864"/>
          </a:xfrm>
        </p:spPr>
        <p:txBody>
          <a:bodyPr>
            <a:normAutofit fontScale="92500" lnSpcReduction="20000"/>
          </a:bodyPr>
          <a:lstStyle/>
          <a:p>
            <a:r>
              <a:rPr lang="it-IT" sz="2400" b="1" dirty="0"/>
              <a:t>Board A – Centrale (Controller):</a:t>
            </a:r>
          </a:p>
          <a:p>
            <a:pPr lvl="1"/>
            <a:r>
              <a:rPr lang="it-IT" dirty="0"/>
              <a:t>Tastierino numerico (armamento/disarmo)</a:t>
            </a:r>
          </a:p>
          <a:p>
            <a:pPr lvl="1"/>
            <a:r>
              <a:rPr lang="it-IT" dirty="0"/>
              <a:t>Sensore di movimento (HC-SR04)</a:t>
            </a:r>
          </a:p>
          <a:p>
            <a:pPr lvl="1"/>
            <a:r>
              <a:rPr lang="it-IT" dirty="0"/>
              <a:t>Invio messaggi tramite USART</a:t>
            </a:r>
          </a:p>
          <a:p>
            <a:pPr lvl="1"/>
            <a:r>
              <a:rPr lang="it-IT" dirty="0"/>
              <a:t>LED di stato (ARMATO/DISARMATO)</a:t>
            </a:r>
          </a:p>
          <a:p>
            <a:pPr lvl="1"/>
            <a:r>
              <a:rPr lang="it-IT" dirty="0"/>
              <a:t>Se non riceve 'tutto_ok' per &gt;5s, attiva buzzer di backup</a:t>
            </a:r>
          </a:p>
          <a:p>
            <a:pPr lvl="1"/>
            <a:r>
              <a:rPr lang="it-IT" dirty="0"/>
              <a:t>Schermo LCD per visualizzare il codice e lo stato del sistema</a:t>
            </a:r>
          </a:p>
          <a:p>
            <a:pPr lvl="1"/>
            <a:endParaRPr lang="it-IT" sz="1400" dirty="0"/>
          </a:p>
          <a:p>
            <a:r>
              <a:rPr lang="it-IT" sz="2400" b="1" dirty="0"/>
              <a:t>Board B – Allarme Primario:</a:t>
            </a:r>
          </a:p>
          <a:p>
            <a:pPr lvl="1"/>
            <a:r>
              <a:rPr lang="it-IT" dirty="0"/>
              <a:t>Riceve messaggi via USART</a:t>
            </a:r>
          </a:p>
          <a:p>
            <a:pPr lvl="1"/>
            <a:r>
              <a:rPr lang="it-IT" dirty="0"/>
              <a:t>Attiva buzzer</a:t>
            </a:r>
          </a:p>
          <a:p>
            <a:pPr lvl="1"/>
            <a:r>
              <a:rPr lang="it-IT" dirty="0"/>
              <a:t>Invia '</a:t>
            </a:r>
            <a:r>
              <a:rPr lang="it-IT" dirty="0" err="1"/>
              <a:t>tutto_ok</a:t>
            </a:r>
            <a:r>
              <a:rPr lang="it-IT" dirty="0"/>
              <a:t>’ ad A ogni 5 secondi</a:t>
            </a:r>
          </a:p>
          <a:p>
            <a:r>
              <a:rPr lang="it-IT" sz="2400" b="1" dirty="0"/>
              <a:t>Board C – Allarme Ridondante:</a:t>
            </a:r>
          </a:p>
          <a:p>
            <a:pPr lvl="1"/>
            <a:r>
              <a:rPr lang="it-IT" sz="1900" dirty="0"/>
              <a:t>Dormiente in ascolto USART</a:t>
            </a:r>
          </a:p>
          <a:p>
            <a:pPr lvl="1"/>
            <a:r>
              <a:rPr lang="it-IT" sz="1900" dirty="0"/>
              <a:t>Se riceve messaggio da A (B è in Fault) attiva buzzer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Workflow del Sistema</a:t>
            </a:r>
            <a:r>
              <a:rPr lang="it-IT" dirty="0"/>
              <a:t> (Armamento)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94" y="1746107"/>
            <a:ext cx="7055381" cy="4973807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sz="2800" dirty="0" err="1"/>
              <a:t>L'utente</a:t>
            </a:r>
            <a:r>
              <a:rPr sz="2800" dirty="0"/>
              <a:t> </a:t>
            </a:r>
            <a:r>
              <a:rPr sz="2800" dirty="0" err="1"/>
              <a:t>inserisce</a:t>
            </a:r>
            <a:r>
              <a:rPr sz="2800" dirty="0"/>
              <a:t> il </a:t>
            </a:r>
            <a:r>
              <a:rPr sz="2800" dirty="0" err="1"/>
              <a:t>codice</a:t>
            </a:r>
            <a:r>
              <a:rPr sz="2800" dirty="0"/>
              <a:t> </a:t>
            </a:r>
            <a:r>
              <a:rPr sz="2800" dirty="0" err="1"/>
              <a:t>su</a:t>
            </a:r>
            <a:r>
              <a:rPr sz="2800" dirty="0"/>
              <a:t> Board A (1926 + #)</a:t>
            </a:r>
          </a:p>
          <a:p>
            <a:r>
              <a:rPr sz="2800" dirty="0"/>
              <a:t>Se </a:t>
            </a:r>
            <a:r>
              <a:rPr sz="2800" dirty="0" err="1"/>
              <a:t>corretto</a:t>
            </a:r>
            <a:r>
              <a:rPr lang="it-IT" sz="2800" dirty="0"/>
              <a:t> e sistema disarmato </a:t>
            </a:r>
            <a:r>
              <a:rPr sz="2800" dirty="0"/>
              <a:t>→ </a:t>
            </a:r>
            <a:r>
              <a:rPr sz="2800" dirty="0" err="1"/>
              <a:t>sistema</a:t>
            </a:r>
            <a:r>
              <a:rPr sz="2800" dirty="0"/>
              <a:t> </a:t>
            </a:r>
            <a:r>
              <a:rPr sz="2800" dirty="0" err="1"/>
              <a:t>armato</a:t>
            </a:r>
            <a:endParaRPr sz="2800" dirty="0"/>
          </a:p>
          <a:p>
            <a:r>
              <a:rPr sz="2800" dirty="0" err="1"/>
              <a:t>Sensore</a:t>
            </a:r>
            <a:r>
              <a:rPr sz="2800" dirty="0"/>
              <a:t> </a:t>
            </a:r>
            <a:r>
              <a:rPr lang="it-IT" sz="2800" dirty="0"/>
              <a:t>HC-SR04 si attiva e può</a:t>
            </a:r>
            <a:r>
              <a:rPr sz="2800" dirty="0"/>
              <a:t> </a:t>
            </a:r>
            <a:r>
              <a:rPr sz="2800" dirty="0" err="1"/>
              <a:t>rileva</a:t>
            </a:r>
            <a:r>
              <a:rPr lang="it-IT" sz="2800" dirty="0"/>
              <a:t>re</a:t>
            </a:r>
            <a:r>
              <a:rPr sz="2800" dirty="0"/>
              <a:t> </a:t>
            </a:r>
            <a:r>
              <a:rPr sz="2800" dirty="0" err="1"/>
              <a:t>movimento</a:t>
            </a:r>
            <a:r>
              <a:rPr sz="2800" dirty="0"/>
              <a:t> → Board A </a:t>
            </a:r>
            <a:r>
              <a:rPr sz="2800" dirty="0" err="1"/>
              <a:t>invia</a:t>
            </a:r>
            <a:r>
              <a:rPr sz="2800" dirty="0"/>
              <a:t> 'ALARM' a Board B</a:t>
            </a:r>
          </a:p>
          <a:p>
            <a:r>
              <a:rPr sz="2800" dirty="0"/>
              <a:t>Board B </a:t>
            </a:r>
            <a:r>
              <a:rPr sz="2800" dirty="0" err="1"/>
              <a:t>attiva</a:t>
            </a:r>
            <a:r>
              <a:rPr sz="2800" dirty="0"/>
              <a:t> buzzer e </a:t>
            </a:r>
            <a:r>
              <a:rPr sz="2800" dirty="0" err="1"/>
              <a:t>inizia</a:t>
            </a:r>
            <a:r>
              <a:rPr sz="2800" dirty="0"/>
              <a:t> a </a:t>
            </a:r>
            <a:r>
              <a:rPr sz="2800" dirty="0" err="1"/>
              <a:t>inviare</a:t>
            </a:r>
            <a:r>
              <a:rPr sz="2800" dirty="0"/>
              <a:t> '</a:t>
            </a:r>
            <a:r>
              <a:rPr sz="2800" dirty="0" err="1"/>
              <a:t>tutto_ok</a:t>
            </a:r>
            <a:r>
              <a:rPr sz="2800" dirty="0"/>
              <a:t>’</a:t>
            </a:r>
            <a:r>
              <a:rPr lang="it-IT" sz="2800" dirty="0"/>
              <a:t> ad A</a:t>
            </a:r>
          </a:p>
          <a:p>
            <a:r>
              <a:rPr lang="it-IT" sz="2800" dirty="0"/>
              <a:t>- Se A continua a ricevere ‘</a:t>
            </a:r>
            <a:r>
              <a:rPr lang="it-IT" sz="2800" dirty="0" err="1"/>
              <a:t>tutto_ok</a:t>
            </a:r>
            <a:r>
              <a:rPr lang="it-IT" sz="2800" dirty="0"/>
              <a:t>' regolarmente, non sveglia C</a:t>
            </a:r>
          </a:p>
          <a:p>
            <a:r>
              <a:rPr lang="it-IT" sz="2800" dirty="0"/>
              <a:t>-Se A non riceve nulla da B per 10s, sveglia C 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94AA-7C5C-15AE-A63A-490232EE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EB2D-6AF2-5EE4-8994-4F6C2569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Workflow del Sistema</a:t>
            </a:r>
            <a:r>
              <a:rPr lang="it-IT" dirty="0"/>
              <a:t> (Disarmo)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DEA62-F1F7-1A65-7944-F8DC3DF54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494" y="1746107"/>
            <a:ext cx="7055381" cy="4973807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sz="2800" dirty="0" err="1"/>
              <a:t>L'utente</a:t>
            </a:r>
            <a:r>
              <a:rPr sz="2800" dirty="0"/>
              <a:t> </a:t>
            </a:r>
            <a:r>
              <a:rPr sz="2800" dirty="0" err="1"/>
              <a:t>inserisce</a:t>
            </a:r>
            <a:r>
              <a:rPr sz="2800" dirty="0"/>
              <a:t> il </a:t>
            </a:r>
            <a:r>
              <a:rPr sz="2800" dirty="0" err="1"/>
              <a:t>codice</a:t>
            </a:r>
            <a:r>
              <a:rPr sz="2800" dirty="0"/>
              <a:t> </a:t>
            </a:r>
            <a:r>
              <a:rPr sz="2800" dirty="0" err="1"/>
              <a:t>su</a:t>
            </a:r>
            <a:r>
              <a:rPr sz="2800" dirty="0"/>
              <a:t> Board A (1926 + #)</a:t>
            </a:r>
          </a:p>
          <a:p>
            <a:r>
              <a:rPr sz="2800" dirty="0"/>
              <a:t>Se </a:t>
            </a:r>
            <a:r>
              <a:rPr lang="it-IT" sz="2800" dirty="0"/>
              <a:t>corretto e sistema armato</a:t>
            </a:r>
            <a:r>
              <a:rPr sz="2800" dirty="0"/>
              <a:t> → </a:t>
            </a:r>
            <a:r>
              <a:rPr sz="2800" dirty="0" err="1"/>
              <a:t>sistema</a:t>
            </a:r>
            <a:r>
              <a:rPr sz="2800" dirty="0"/>
              <a:t> </a:t>
            </a:r>
            <a:r>
              <a:rPr lang="it-IT" sz="2800" dirty="0" err="1"/>
              <a:t>dis</a:t>
            </a:r>
            <a:r>
              <a:rPr sz="2800" dirty="0" err="1"/>
              <a:t>armato</a:t>
            </a:r>
            <a:endParaRPr sz="2800" dirty="0"/>
          </a:p>
          <a:p>
            <a:r>
              <a:rPr sz="2800" dirty="0" err="1"/>
              <a:t>Sensore</a:t>
            </a:r>
            <a:r>
              <a:rPr sz="2800" dirty="0"/>
              <a:t> </a:t>
            </a:r>
            <a:r>
              <a:rPr lang="it-IT" sz="2800" dirty="0"/>
              <a:t>HC-SR04 si disattiva ed A manda  'Stop'  a B e a C</a:t>
            </a:r>
            <a:endParaRPr sz="2800" dirty="0"/>
          </a:p>
          <a:p>
            <a:r>
              <a:rPr lang="it-IT" sz="2800" dirty="0"/>
              <a:t>Board B o C disattiva buzzer se ha ricevuto 'Stop' da A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06024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4" y="452718"/>
            <a:ext cx="4221916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300" b="1" dirty="0"/>
              <a:t>Tastierino Numerico – Funzionamento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FDD49D-78CC-676F-735A-5AF880912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584" y="2052918"/>
            <a:ext cx="4221476" cy="41954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Collegato a </a:t>
            </a:r>
            <a:r>
              <a:rPr kumimoji="0" lang="it-IT" altLang="it-IT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Board A</a:t>
            </a: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tramite 8 pin (4 righe e 4 colonne)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Utilizza la </a:t>
            </a:r>
            <a:r>
              <a:rPr kumimoji="0" lang="it-IT" altLang="it-IT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scansione a matrice</a:t>
            </a: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per rilevare il tasto premuto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Ogni ciclo: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Viene attivata una riga per volta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 leggono le colonne per identificare il tasto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F70130-D38C-40D9-CD8E-A5AEECC3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87" y="173303"/>
            <a:ext cx="1793071" cy="3536338"/>
          </a:xfrm>
          <a:prstGeom prst="rect">
            <a:avLst/>
          </a:prstGeom>
          <a:effectLst/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92B9024-DBDE-864E-FD52-BC456D4E2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060" y="3593710"/>
            <a:ext cx="4221476" cy="310278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3159-A174-11A2-4101-A813690FC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4C5B-95BB-0DF4-DAA1-F52F9803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80" y="80524"/>
            <a:ext cx="4031064" cy="1620017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it-IT" sz="2900" b="1" dirty="0"/>
              <a:t>Sensore di movimento (HC-SR04)</a:t>
            </a:r>
            <a:br>
              <a:rPr lang="it-IT" sz="3200" dirty="0"/>
            </a:br>
            <a:r>
              <a:rPr lang="it-IT" sz="2900" b="1" dirty="0"/>
              <a:t>– Funzionamento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C473A8-F95F-87E9-AA13-CE5997E2B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502" y="1428218"/>
            <a:ext cx="342806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Sensore a ultrasuoni utilizzato per rilevare la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presenza o distanza di un oggetto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Composto 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pin di uscita per inviare un impulso ultrasonico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Echo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pin di ingresso per ricevere il segnale riflesso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142A59A-2F0B-B361-3046-0A95865DD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660" y="1143000"/>
            <a:ext cx="4602006" cy="2370033"/>
          </a:xfrm>
          <a:prstGeom prst="rect">
            <a:avLst/>
          </a:prstGeom>
          <a:effectLst/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BDB090F1-D5EC-1CC8-04A7-824148DBC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119" y="3681763"/>
            <a:ext cx="4859702" cy="1948539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8F3D681-A5CD-7241-3236-18EAC42DFBF0}"/>
              </a:ext>
            </a:extLst>
          </p:cNvPr>
          <p:cNvSpPr txBox="1"/>
          <p:nvPr/>
        </p:nvSpPr>
        <p:spPr>
          <a:xfrm>
            <a:off x="321480" y="3770646"/>
            <a:ext cx="36409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it-IT" sz="1600" dirty="0">
                <a:latin typeface="Arial" panose="020B0604020202020204" pitchFamily="34" charset="0"/>
                <a:ea typeface="+mj-ea"/>
                <a:cs typeface="+mj-cs"/>
              </a:rPr>
              <a:t>Per fare una misura di distanza è necessario inviare nel piedino denominato "</a:t>
            </a:r>
            <a:r>
              <a:rPr lang="it-IT" sz="1600" dirty="0" err="1">
                <a:latin typeface="Arial" panose="020B0604020202020204" pitchFamily="34" charset="0"/>
                <a:ea typeface="+mj-ea"/>
                <a:cs typeface="+mj-cs"/>
              </a:rPr>
              <a:t>Trig</a:t>
            </a:r>
            <a:r>
              <a:rPr lang="it-IT" sz="1600" dirty="0">
                <a:latin typeface="Arial" panose="020B0604020202020204" pitchFamily="34" charset="0"/>
                <a:ea typeface="+mj-ea"/>
                <a:cs typeface="+mj-cs"/>
              </a:rPr>
              <a:t>" un impulso della durata di 10 microsecondi.</a:t>
            </a:r>
          </a:p>
          <a:p>
            <a:pPr algn="l" rtl="0"/>
            <a:r>
              <a:rPr lang="it-IT" sz="1600" dirty="0">
                <a:latin typeface="Arial" panose="020B0604020202020204" pitchFamily="34" charset="0"/>
                <a:ea typeface="+mj-ea"/>
                <a:cs typeface="+mj-cs"/>
              </a:rPr>
              <a:t>Il modulo a </a:t>
            </a:r>
            <a:r>
              <a:rPr lang="it-IT" sz="1400" dirty="0">
                <a:latin typeface="Arial" panose="020B0604020202020204" pitchFamily="34" charset="0"/>
                <a:ea typeface="+mj-ea"/>
                <a:cs typeface="+mj-cs"/>
              </a:rPr>
              <a:t>questo</a:t>
            </a:r>
            <a:r>
              <a:rPr lang="it-IT" sz="1600" dirty="0">
                <a:latin typeface="Arial" panose="020B0604020202020204" pitchFamily="34" charset="0"/>
                <a:ea typeface="+mj-ea"/>
                <a:cs typeface="+mj-cs"/>
              </a:rPr>
              <a:t> punto genera automaticamente un treno di 8 impulsi a 40 KHz. Contemporaneamente il piedino </a:t>
            </a:r>
            <a:r>
              <a:rPr lang="it-IT" sz="1600" dirty="0" err="1">
                <a:latin typeface="Arial" panose="020B0604020202020204" pitchFamily="34" charset="0"/>
                <a:ea typeface="+mj-ea"/>
                <a:cs typeface="+mj-cs"/>
              </a:rPr>
              <a:t>echo</a:t>
            </a:r>
            <a:r>
              <a:rPr lang="it-IT" sz="1600" dirty="0">
                <a:latin typeface="Arial" panose="020B0604020202020204" pitchFamily="34" charset="0"/>
                <a:ea typeface="+mj-ea"/>
                <a:cs typeface="+mj-cs"/>
              </a:rPr>
              <a:t> viene portato a 5 V e tornerà  a 0 V solo quando il treno di impulsi, incontrando un ostacolo, verrà rimbalzato indietro.</a:t>
            </a:r>
          </a:p>
        </p:txBody>
      </p:sp>
    </p:spTree>
    <p:extLst>
      <p:ext uri="{BB962C8B-B14F-4D97-AF65-F5344CB8AC3E}">
        <p14:creationId xmlns:p14="http://schemas.microsoft.com/office/powerpoint/2010/main" val="2570153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212163" cy="1622321"/>
          </a:xfrm>
        </p:spPr>
        <p:txBody>
          <a:bodyPr>
            <a:normAutofit/>
          </a:bodyPr>
          <a:lstStyle/>
          <a:p>
            <a:r>
              <a:rPr lang="it-IT" dirty="0"/>
              <a:t>Display LCD 16x2 (1/4)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83F367-4D4C-8B03-9EA4-8148CA8B4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438400"/>
            <a:ext cx="4212162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600"/>
              <a:t>In questo progetto è stato utilizzato uno schermo LCD 16x2 per visualizzare l’inserimento del codice  e i messaggi di stato come: “ARMATO”, “DISARMATO”, “ALLARME”.</a:t>
            </a:r>
            <a:br>
              <a:rPr lang="it-IT" sz="1600"/>
            </a:br>
            <a:r>
              <a:rPr lang="it-IT" sz="1600"/>
              <a:t>Abbiamo scelto di collegare il display in </a:t>
            </a:r>
            <a:r>
              <a:rPr lang="it-IT" sz="1600" b="1"/>
              <a:t>modalità parallela a 4 bit</a:t>
            </a:r>
            <a:r>
              <a:rPr lang="it-IT" sz="1600"/>
              <a:t>, in quanto non era necessario risparmiare pin e questa modalità permette un </a:t>
            </a:r>
            <a:r>
              <a:rPr lang="it-IT" sz="1600" b="1"/>
              <a:t>controllo diretto e veloce</a:t>
            </a:r>
            <a:r>
              <a:rPr lang="it-IT" sz="1600"/>
              <a:t> del display.</a:t>
            </a:r>
            <a:br>
              <a:rPr lang="it-IT" sz="1600"/>
            </a:br>
            <a:r>
              <a:rPr lang="it-IT" sz="1600"/>
              <a:t>L’LCD ha rappresentato un valido supporto per il </a:t>
            </a:r>
            <a:r>
              <a:rPr lang="it-IT" sz="1600" b="1"/>
              <a:t>debug e il monitoraggio</a:t>
            </a:r>
            <a:r>
              <a:rPr lang="it-IT" sz="1600"/>
              <a:t> del sistema durante lo sviluppo.</a:t>
            </a:r>
          </a:p>
          <a:p>
            <a:pPr>
              <a:lnSpc>
                <a:spcPct val="90000"/>
              </a:lnSpc>
            </a:pPr>
            <a:endParaRPr lang="en-US" sz="1600"/>
          </a:p>
        </p:txBody>
      </p:sp>
      <p:pic>
        <p:nvPicPr>
          <p:cNvPr id="7" name="Segnaposto contenuto 6" descr="Immagine che contiene elettronica, Componente elettrico, Componente del computer, Componente di circuito&#10;&#10;Il contenuto generato dall'IA potrebbe non essere corretto.">
            <a:extLst>
              <a:ext uri="{FF2B5EF4-FFF2-40B4-BE49-F238E27FC236}">
                <a16:creationId xmlns:a16="http://schemas.microsoft.com/office/drawing/2014/main" id="{26820F4F-423C-929B-EEFB-1C81FCD25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806" y="2309584"/>
            <a:ext cx="2985104" cy="223882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4BC87-7D79-AC04-F020-588E508F1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LCD - Display1602 (2/4)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E039B7-DA7E-251C-255D-7B21B2DC6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display </a:t>
            </a:r>
            <a:r>
              <a:rPr lang="it-IT" b="1" dirty="0"/>
              <a:t>LCD 1602</a:t>
            </a:r>
            <a:r>
              <a:rPr lang="it-IT" dirty="0"/>
              <a:t> è un </a:t>
            </a:r>
            <a:r>
              <a:rPr lang="it-IT" b="1" dirty="0"/>
              <a:t>modulo alfanumerico</a:t>
            </a:r>
            <a:r>
              <a:rPr lang="it-IT" dirty="0"/>
              <a:t> a 2 righe e 16 caratteri per riga.</a:t>
            </a:r>
          </a:p>
          <a:p>
            <a:r>
              <a:rPr lang="it-IT" dirty="0"/>
              <a:t>Visualizza </a:t>
            </a:r>
            <a:r>
              <a:rPr lang="it-IT" b="1" dirty="0"/>
              <a:t>testo semplice</a:t>
            </a:r>
            <a:r>
              <a:rPr lang="it-IT" dirty="0"/>
              <a:t> su fondo verde o blu, con caratteri retroilluminati.</a:t>
            </a:r>
          </a:p>
          <a:p>
            <a:r>
              <a:rPr lang="it-IT" dirty="0"/>
              <a:t>Utilizza il </a:t>
            </a:r>
            <a:r>
              <a:rPr lang="it-IT" b="1" dirty="0"/>
              <a:t>controller HD44780</a:t>
            </a:r>
            <a:r>
              <a:rPr lang="it-IT" dirty="0"/>
              <a:t>, compatibile con la maggior parte dei microcontrollori.</a:t>
            </a:r>
          </a:p>
          <a:p>
            <a:r>
              <a:rPr lang="it-IT" dirty="0"/>
              <a:t>Comunicazione tramite </a:t>
            </a:r>
            <a:r>
              <a:rPr lang="it-IT" b="1" dirty="0"/>
              <a:t>interfaccia parallela a 4 o 8 bit</a:t>
            </a:r>
            <a:r>
              <a:rPr lang="it-IT" dirty="0"/>
              <a:t>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553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5074-70B5-D6B1-5E73-BC6DA619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4CCBEC-6D2E-8482-7F28-8A0108EA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LCD - Display1602.  (3/4)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FDF0D7-E595-8400-BC89-A24E205AE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4ECD897-8E2B-AA4D-3212-47CB9DA6829A}"/>
              </a:ext>
            </a:extLst>
          </p:cNvPr>
          <p:cNvSpPr txBox="1">
            <a:spLocks/>
          </p:cNvSpPr>
          <p:nvPr/>
        </p:nvSpPr>
        <p:spPr>
          <a:xfrm>
            <a:off x="827700" y="1853249"/>
            <a:ext cx="6864054" cy="45475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it-IT" sz="1900" b="1" dirty="0"/>
              <a:t>Specifiche principali:</a:t>
            </a:r>
            <a:endParaRPr lang="it-IT" sz="1900" dirty="0"/>
          </a:p>
          <a:p>
            <a:r>
              <a:rPr lang="it-IT" sz="1900" b="1" dirty="0"/>
              <a:t>Pin di controllo:</a:t>
            </a:r>
            <a:endParaRPr lang="it-IT" sz="1900" dirty="0"/>
          </a:p>
          <a:p>
            <a:pPr lvl="1"/>
            <a:r>
              <a:rPr lang="it-IT" sz="1700" b="1" dirty="0"/>
              <a:t>RS</a:t>
            </a:r>
            <a:r>
              <a:rPr lang="it-IT" sz="1700" dirty="0"/>
              <a:t> (</a:t>
            </a:r>
            <a:r>
              <a:rPr lang="it-IT" sz="1700" dirty="0" err="1"/>
              <a:t>Register</a:t>
            </a:r>
            <a:r>
              <a:rPr lang="it-IT" sz="1700" dirty="0"/>
              <a:t> Select): distingue tra comando e dati</a:t>
            </a:r>
          </a:p>
          <a:p>
            <a:pPr lvl="1"/>
            <a:r>
              <a:rPr lang="it-IT" sz="1700" b="1" dirty="0"/>
              <a:t>RW</a:t>
            </a:r>
            <a:r>
              <a:rPr lang="it-IT" sz="1700" dirty="0"/>
              <a:t> (Read/Write): seleziona lettura o scrittura</a:t>
            </a:r>
          </a:p>
          <a:p>
            <a:pPr lvl="1"/>
            <a:r>
              <a:rPr lang="it-IT" sz="1700" b="1" dirty="0"/>
              <a:t>E</a:t>
            </a:r>
            <a:r>
              <a:rPr lang="it-IT" sz="1700" dirty="0"/>
              <a:t> (</a:t>
            </a:r>
            <a:r>
              <a:rPr lang="it-IT" sz="1700" dirty="0" err="1"/>
              <a:t>Enable</a:t>
            </a:r>
            <a:r>
              <a:rPr lang="it-IT" sz="1700" dirty="0"/>
              <a:t>): attiva la lettura/scrittura del dato</a:t>
            </a:r>
          </a:p>
          <a:p>
            <a:r>
              <a:rPr lang="it-IT" sz="1900" b="1" dirty="0"/>
              <a:t>Alimentazione e contrasto:</a:t>
            </a:r>
            <a:endParaRPr lang="it-IT" sz="1900" dirty="0"/>
          </a:p>
          <a:p>
            <a:pPr lvl="1"/>
            <a:r>
              <a:rPr lang="it-IT" sz="1700" b="1" dirty="0"/>
              <a:t>VSS:</a:t>
            </a:r>
            <a:r>
              <a:rPr lang="it-IT" sz="1700" dirty="0"/>
              <a:t> GND</a:t>
            </a:r>
          </a:p>
          <a:p>
            <a:pPr lvl="1"/>
            <a:r>
              <a:rPr lang="it-IT" sz="1700" b="1" dirty="0"/>
              <a:t>VDD:</a:t>
            </a:r>
            <a:r>
              <a:rPr lang="it-IT" sz="1700" dirty="0"/>
              <a:t> +5V</a:t>
            </a:r>
          </a:p>
          <a:p>
            <a:pPr lvl="1"/>
            <a:r>
              <a:rPr lang="it-IT" sz="1700" b="1" dirty="0"/>
              <a:t>VO:</a:t>
            </a:r>
            <a:r>
              <a:rPr lang="it-IT" sz="1700" dirty="0"/>
              <a:t> ingresso analogico per il contrasto (con potenziometro)</a:t>
            </a:r>
          </a:p>
          <a:p>
            <a:r>
              <a:rPr lang="it-IT" sz="1900" b="1" dirty="0"/>
              <a:t>Retroilluminazione:</a:t>
            </a:r>
            <a:endParaRPr lang="it-IT" sz="1900" dirty="0"/>
          </a:p>
          <a:p>
            <a:pPr lvl="1"/>
            <a:r>
              <a:rPr lang="it-IT" sz="1700" b="1" dirty="0"/>
              <a:t>A (Anodo):</a:t>
            </a:r>
            <a:r>
              <a:rPr lang="it-IT" sz="1700" dirty="0"/>
              <a:t> + tensione per accendere la retroilluminazione</a:t>
            </a:r>
          </a:p>
          <a:p>
            <a:pPr lvl="1"/>
            <a:r>
              <a:rPr lang="it-IT" sz="1700" b="1" dirty="0"/>
              <a:t>K (Catodo):</a:t>
            </a:r>
            <a:r>
              <a:rPr lang="it-IT" sz="1700" dirty="0"/>
              <a:t> GND della retroilluminazione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74944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77FC0-7DCF-025D-692F-B5F096C6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FECACC-EE94-B188-9620-902404E3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6"/>
            <a:ext cx="4212163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600" dirty="0"/>
              <a:t>LCD - Display1602.  (4/4)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4668D5-4D0D-8C96-39A7-6C2FBA727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438400"/>
            <a:ext cx="4212162" cy="37854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it-IT" dirty="0"/>
          </a:p>
          <a:p>
            <a:pPr>
              <a:lnSpc>
                <a:spcPct val="170000"/>
              </a:lnSpc>
            </a:pPr>
            <a:r>
              <a:rPr lang="it-IT" b="1" dirty="0" err="1"/>
              <a:t>LCD_Send_Command</a:t>
            </a:r>
            <a:r>
              <a:rPr lang="it-IT" b="1" dirty="0"/>
              <a:t>(uint8_t </a:t>
            </a:r>
            <a:r>
              <a:rPr lang="it-IT" b="1" dirty="0" err="1"/>
              <a:t>cmd</a:t>
            </a:r>
            <a:r>
              <a:rPr lang="it-IT" b="1" dirty="0"/>
              <a:t>)</a:t>
            </a:r>
            <a:br>
              <a:rPr lang="it-IT" dirty="0"/>
            </a:br>
            <a:r>
              <a:rPr lang="it-IT" dirty="0"/>
              <a:t>Invia un </a:t>
            </a:r>
            <a:r>
              <a:rPr lang="it-IT" b="1" dirty="0"/>
              <a:t>comando</a:t>
            </a:r>
            <a:r>
              <a:rPr lang="it-IT" dirty="0"/>
              <a:t> al display (es. clear, set </a:t>
            </a:r>
            <a:r>
              <a:rPr lang="it-IT" dirty="0" err="1"/>
              <a:t>cursor</a:t>
            </a:r>
            <a:r>
              <a:rPr lang="it-IT" dirty="0"/>
              <a:t>, </a:t>
            </a:r>
            <a:r>
              <a:rPr lang="it-IT" dirty="0" err="1"/>
              <a:t>return</a:t>
            </a:r>
            <a:r>
              <a:rPr lang="it-IT" dirty="0"/>
              <a:t> home) settando il pin RS a 0.</a:t>
            </a:r>
          </a:p>
          <a:p>
            <a:pPr>
              <a:lnSpc>
                <a:spcPct val="170000"/>
              </a:lnSpc>
            </a:pPr>
            <a:r>
              <a:rPr lang="it-IT" b="1" dirty="0" err="1"/>
              <a:t>LCD_Send_Data</a:t>
            </a:r>
            <a:r>
              <a:rPr lang="it-IT" b="1" dirty="0"/>
              <a:t>(uint8_t data)</a:t>
            </a:r>
            <a:br>
              <a:rPr lang="it-IT" dirty="0"/>
            </a:br>
            <a:r>
              <a:rPr lang="it-IT" dirty="0"/>
              <a:t>Invia un </a:t>
            </a:r>
            <a:r>
              <a:rPr lang="it-IT" b="1" dirty="0"/>
              <a:t>carattere da visualizzare</a:t>
            </a:r>
            <a:r>
              <a:rPr lang="it-IT" dirty="0"/>
              <a:t> (es. una lettera o un numero) settando RS a 1.</a:t>
            </a:r>
          </a:p>
          <a:p>
            <a:pPr>
              <a:lnSpc>
                <a:spcPct val="170000"/>
              </a:lnSpc>
            </a:pPr>
            <a:r>
              <a:rPr lang="it-IT" b="1" dirty="0" err="1"/>
              <a:t>LCD_Send_String</a:t>
            </a:r>
            <a:r>
              <a:rPr lang="it-IT" b="1" dirty="0"/>
              <a:t>(</a:t>
            </a:r>
            <a:r>
              <a:rPr lang="it-IT" b="1" dirty="0" err="1"/>
              <a:t>char</a:t>
            </a:r>
            <a:r>
              <a:rPr lang="it-IT" b="1" dirty="0"/>
              <a:t> *</a:t>
            </a:r>
            <a:r>
              <a:rPr lang="it-IT" b="1" dirty="0" err="1"/>
              <a:t>str</a:t>
            </a:r>
            <a:r>
              <a:rPr lang="it-IT" b="1" dirty="0"/>
              <a:t>)</a:t>
            </a:r>
            <a:br>
              <a:rPr lang="it-IT" dirty="0"/>
            </a:br>
            <a:r>
              <a:rPr lang="it-IT" dirty="0"/>
              <a:t>Visualizza una </a:t>
            </a:r>
            <a:r>
              <a:rPr lang="it-IT" b="1" dirty="0"/>
              <a:t>stringa intera</a:t>
            </a:r>
            <a:r>
              <a:rPr lang="it-IT" dirty="0"/>
              <a:t>, carattere per carattere, scorrendo il puntatore </a:t>
            </a:r>
            <a:r>
              <a:rPr lang="it-IT" dirty="0" err="1"/>
              <a:t>str</a:t>
            </a:r>
            <a:r>
              <a:rPr lang="it-IT" dirty="0"/>
              <a:t>.</a:t>
            </a:r>
          </a:p>
          <a:p>
            <a:pPr>
              <a:lnSpc>
                <a:spcPct val="170000"/>
              </a:lnSpc>
            </a:pPr>
            <a:r>
              <a:rPr lang="it-IT" b="1" dirty="0" err="1"/>
              <a:t>LCD_Set_Cursor</a:t>
            </a:r>
            <a:r>
              <a:rPr lang="it-IT" b="1" dirty="0"/>
              <a:t>(uint8_t </a:t>
            </a:r>
            <a:r>
              <a:rPr lang="it-IT" b="1" dirty="0" err="1"/>
              <a:t>row</a:t>
            </a:r>
            <a:r>
              <a:rPr lang="it-IT" b="1" dirty="0"/>
              <a:t>, uint8_t col)</a:t>
            </a:r>
            <a:br>
              <a:rPr lang="it-IT" dirty="0"/>
            </a:br>
            <a:r>
              <a:rPr lang="it-IT" dirty="0"/>
              <a:t>Posiziona il cursore in un punto specifico del display (riga 0 o 1, colonna 0–15).</a:t>
            </a:r>
          </a:p>
          <a:p>
            <a:endParaRPr lang="it-IT" dirty="0"/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1F7E4252-2F8C-4EA5-8B25-80F4D86EE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73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1AE682A4-5C0C-437A-88CB-93903D449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5604" y="0"/>
            <a:ext cx="347871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CB0AB8E-3445-441A-B43E-CED27841E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072550" y="2924731"/>
            <a:ext cx="6858000" cy="1008536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B6CA42B8-DF17-91A3-C38D-D2E9585BF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806" y="2335704"/>
            <a:ext cx="2985104" cy="2186588"/>
          </a:xfrm>
          <a:prstGeom prst="rect">
            <a:avLst/>
          </a:prstGeom>
          <a:effectLst/>
        </p:spPr>
      </p:pic>
      <p:sp>
        <p:nvSpPr>
          <p:cNvPr id="23" name="Rectangle 17">
            <a:extLst>
              <a:ext uri="{FF2B5EF4-FFF2-40B4-BE49-F238E27FC236}">
                <a16:creationId xmlns:a16="http://schemas.microsoft.com/office/drawing/2014/main" id="{60202AA6-BAFE-417F-904D-4F7027D36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147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7702C-9B88-1C26-E5A5-186096F2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7779-6766-CF7B-A7D4-AA69D918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it-IT" b="1" dirty="0"/>
              <a:t>Comunicazione: UART</a:t>
            </a:r>
          </a:p>
        </p:txBody>
      </p:sp>
      <p:sp>
        <p:nvSpPr>
          <p:cNvPr id="63" name="Content Placeholder 10">
            <a:extLst>
              <a:ext uri="{FF2B5EF4-FFF2-40B4-BE49-F238E27FC236}">
                <a16:creationId xmlns:a16="http://schemas.microsoft.com/office/drawing/2014/main" id="{FE1A26E1-F973-F2CF-EFCD-5D0EF0B44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548281"/>
            <a:ext cx="4012150" cy="36804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300" dirty="0"/>
              <a:t>Nel nostro progetto abbiamo utilizzato </a:t>
            </a:r>
            <a:r>
              <a:rPr lang="it-IT" sz="1300" b="1" dirty="0"/>
              <a:t>due interfacce UART,</a:t>
            </a:r>
            <a:r>
              <a:rPr lang="it-IT" sz="1300" dirty="0"/>
              <a:t> già a disposizione sulla Board, per gestire la comunicazione tra le tre schede STM32:</a:t>
            </a:r>
          </a:p>
          <a:p>
            <a:pPr>
              <a:lnSpc>
                <a:spcPct val="90000"/>
              </a:lnSpc>
            </a:pPr>
            <a:r>
              <a:rPr lang="it-IT" sz="1300" b="1" dirty="0"/>
              <a:t>UART4</a:t>
            </a:r>
            <a:r>
              <a:rPr lang="it-IT" sz="1300" dirty="0"/>
              <a:t> è stata usata per la comunicazione bidirezionale tra la </a:t>
            </a:r>
            <a:r>
              <a:rPr lang="it-IT" sz="1300" b="1" dirty="0"/>
              <a:t>board A e la board B</a:t>
            </a:r>
            <a:r>
              <a:rPr lang="it-IT" sz="1300" dirty="0"/>
              <a:t>. I messaggi viaggiano in entrambe le direzioni (TX ↔ RX).</a:t>
            </a:r>
          </a:p>
          <a:p>
            <a:pPr>
              <a:lnSpc>
                <a:spcPct val="90000"/>
              </a:lnSpc>
            </a:pPr>
            <a:r>
              <a:rPr lang="it-IT" sz="1300" b="1" dirty="0"/>
              <a:t>UART5</a:t>
            </a:r>
            <a:r>
              <a:rPr lang="it-IT" sz="1300" dirty="0"/>
              <a:t> è stata utilizzata per la comunicazione unidirezionale tra la </a:t>
            </a:r>
            <a:r>
              <a:rPr lang="it-IT" sz="1300" b="1" dirty="0"/>
              <a:t>board A e la board C</a:t>
            </a:r>
            <a:r>
              <a:rPr lang="it-IT" sz="1300" dirty="0"/>
              <a:t>, in cui A trasmette messaggi e C li riceve.</a:t>
            </a:r>
          </a:p>
          <a:p>
            <a:pPr>
              <a:lnSpc>
                <a:spcPct val="90000"/>
              </a:lnSpc>
            </a:pPr>
            <a:r>
              <a:rPr lang="it-IT" sz="1300" dirty="0"/>
              <a:t>Questo setup ha permesso uno </a:t>
            </a:r>
            <a:r>
              <a:rPr lang="it-IT" sz="1300" b="1" dirty="0"/>
              <a:t>scambio efficiente e modulare</a:t>
            </a:r>
            <a:r>
              <a:rPr lang="it-IT" sz="1300" dirty="0"/>
              <a:t> dei messaggi tra i nodi del sistema.</a:t>
            </a: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  <p:pic>
        <p:nvPicPr>
          <p:cNvPr id="7" name="Segnaposto contenuto 6" descr="Immagine che contiene testo, line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19A52660-F4DC-E0E5-12DE-5BAC8BA69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937" y="3418441"/>
            <a:ext cx="4088720" cy="192169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2918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96CC1-8EAF-2C75-7CF9-34D43A44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9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47" name="Picture 31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48" name="Oval 33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49" name="Picture 35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50" name="Picture 37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6096000"/>
            <a:ext cx="745300" cy="762000"/>
          </a:xfrm>
          <a:prstGeom prst="rect">
            <a:avLst/>
          </a:prstGeom>
        </p:spPr>
      </p:pic>
      <p:sp>
        <p:nvSpPr>
          <p:cNvPr id="51" name="Rectangle 39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0B0905A1-E290-B01C-C51C-C597D72F7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5180" y="1008566"/>
            <a:ext cx="3011347" cy="3487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dirty="0" err="1"/>
              <a:t>Configurazione</a:t>
            </a:r>
            <a:r>
              <a:rPr lang="en-US" sz="2200" b="1" dirty="0"/>
              <a:t>: </a:t>
            </a:r>
            <a:r>
              <a:rPr lang="en-US" sz="2800" b="1" dirty="0"/>
              <a:t>UART</a:t>
            </a:r>
            <a:endParaRPr lang="en-US" sz="2200" b="1" dirty="0"/>
          </a:p>
        </p:txBody>
      </p:sp>
      <p:sp>
        <p:nvSpPr>
          <p:cNvPr id="52" name="Rectangle 41">
            <a:extLst>
              <a:ext uri="{FF2B5EF4-FFF2-40B4-BE49-F238E27FC236}">
                <a16:creationId xmlns:a16="http://schemas.microsoft.com/office/drawing/2014/main" id="{4C1E981B-F06E-48B4-9275-F4B261AFC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678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36">
            <a:extLst>
              <a:ext uri="{FF2B5EF4-FFF2-40B4-BE49-F238E27FC236}">
                <a16:creationId xmlns:a16="http://schemas.microsoft.com/office/drawing/2014/main" id="{312E2C24-0CD2-4071-8CE2-B059993A9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24F1DC13-C830-4B86-A9C6-927F5C55D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1924197" y="2924731"/>
            <a:ext cx="6858000" cy="1008536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4" name="Segnaposto contenuto 3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35C63A36-BE4C-7B54-E024-6403AD4B8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482890" y="654138"/>
            <a:ext cx="4702997" cy="554925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86903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D944A-115D-4D93-8DEB-A838973D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7D4F-5F50-F85E-F422-143DDDE1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4" y="452718"/>
            <a:ext cx="4221916" cy="1400530"/>
          </a:xfrm>
        </p:spPr>
        <p:txBody>
          <a:bodyPr>
            <a:normAutofit/>
          </a:bodyPr>
          <a:lstStyle/>
          <a:p>
            <a:r>
              <a:rPr lang="it-IT" b="1"/>
              <a:t>Timer Board B su UART4:</a:t>
            </a:r>
          </a:p>
        </p:txBody>
      </p:sp>
      <p:sp>
        <p:nvSpPr>
          <p:cNvPr id="63" name="Content Placeholder 10">
            <a:extLst>
              <a:ext uri="{FF2B5EF4-FFF2-40B4-BE49-F238E27FC236}">
                <a16:creationId xmlns:a16="http://schemas.microsoft.com/office/drawing/2014/main" id="{8CA80D64-4C6C-029C-8177-286C8564A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84" y="2052918"/>
            <a:ext cx="4221476" cy="4195481"/>
          </a:xfrm>
        </p:spPr>
        <p:txBody>
          <a:bodyPr>
            <a:normAutofit fontScale="92500" lnSpcReduction="10000"/>
          </a:bodyPr>
          <a:lstStyle/>
          <a:p>
            <a:r>
              <a:rPr lang="it-IT" sz="1400" dirty="0"/>
              <a:t>Per garantire che la Board A sia informata del corretto funzionamento della Board B, abbiamo configurato il timer </a:t>
            </a:r>
            <a:r>
              <a:rPr lang="it-IT" sz="1400" b="1" dirty="0"/>
              <a:t>TIM2</a:t>
            </a:r>
            <a:r>
              <a:rPr lang="it-IT" sz="1400" dirty="0"/>
              <a:t> sulla Board B per inviare un messaggio di "ok" </a:t>
            </a:r>
            <a:r>
              <a:rPr lang="it-IT" sz="1400" b="1" dirty="0"/>
              <a:t>ogni 5 </a:t>
            </a:r>
            <a:r>
              <a:rPr lang="it-IT" sz="1400" dirty="0"/>
              <a:t>secondi tramite </a:t>
            </a:r>
            <a:r>
              <a:rPr lang="it-IT" sz="1400" b="1" dirty="0"/>
              <a:t>UART4</a:t>
            </a:r>
            <a:r>
              <a:rPr lang="it-IT" sz="1400" dirty="0"/>
              <a:t>. Questo meccanismo permette alla Board A di monitorare costantemente la connessione con B. Se non riceve questi messaggi periodici, A considera la connessione interrotta e attiva la procedura di emergenza.</a:t>
            </a:r>
          </a:p>
          <a:p>
            <a:r>
              <a:rPr lang="it-IT" sz="1400" dirty="0"/>
              <a:t>Parametri utilizzati per TIM2 (Board B):</a:t>
            </a:r>
          </a:p>
          <a:p>
            <a:r>
              <a:rPr lang="it-IT" sz="1400" dirty="0" err="1"/>
              <a:t>Prescaler</a:t>
            </a:r>
            <a:r>
              <a:rPr lang="it-IT" sz="1400" dirty="0"/>
              <a:t> (PSC): </a:t>
            </a:r>
            <a:r>
              <a:rPr lang="it-IT" sz="1400" b="1" dirty="0"/>
              <a:t>9599</a:t>
            </a:r>
          </a:p>
          <a:p>
            <a:r>
              <a:rPr lang="it-IT" sz="1400" b="1" dirty="0"/>
              <a:t>Counter </a:t>
            </a:r>
            <a:r>
              <a:rPr lang="it-IT" sz="1400" b="1" dirty="0" err="1"/>
              <a:t>Period</a:t>
            </a:r>
            <a:r>
              <a:rPr lang="it-IT" sz="1400" b="1" dirty="0"/>
              <a:t> (ARR): 24999</a:t>
            </a:r>
          </a:p>
          <a:p>
            <a:r>
              <a:rPr lang="it-IT" sz="1400" b="1" dirty="0"/>
              <a:t>Clock Source: </a:t>
            </a:r>
            <a:r>
              <a:rPr lang="it-IT" sz="1400" b="1" dirty="0" err="1"/>
              <a:t>Internal</a:t>
            </a:r>
            <a:r>
              <a:rPr lang="it-IT" sz="1400" b="1" dirty="0"/>
              <a:t> Clock</a:t>
            </a:r>
          </a:p>
          <a:p>
            <a:r>
              <a:rPr lang="it-IT" sz="1400" b="1" dirty="0"/>
              <a:t>Modalità: Up </a:t>
            </a:r>
            <a:r>
              <a:rPr lang="it-IT" sz="1400" b="1" dirty="0" err="1"/>
              <a:t>counting</a:t>
            </a:r>
            <a:endParaRPr lang="it-IT" sz="1400" b="1" dirty="0"/>
          </a:p>
          <a:p>
            <a:r>
              <a:rPr lang="it-IT" sz="1400" dirty="0"/>
              <a:t>Il timer è attivato con interrupt e a ogni scadenza invia il messaggio UART.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86039E-ED4A-74FD-8D05-F39BED31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986" y="587286"/>
            <a:ext cx="2804610" cy="2683330"/>
          </a:xfrm>
          <a:prstGeom prst="rect">
            <a:avLst/>
          </a:prstGeom>
          <a:effectLst/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6C1C250-626A-0926-670B-B657FBF90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986" y="3270616"/>
            <a:ext cx="3062854" cy="30289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9053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3F846-D2B6-7CE6-4CFB-80E17841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8EBD-DD3E-A282-B2CB-209B5596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4" y="452718"/>
            <a:ext cx="4221916" cy="1400530"/>
          </a:xfrm>
        </p:spPr>
        <p:txBody>
          <a:bodyPr>
            <a:normAutofit/>
          </a:bodyPr>
          <a:lstStyle/>
          <a:p>
            <a:r>
              <a:rPr lang="it-IT" sz="3900" b="1" dirty="0"/>
              <a:t>Timer Board A su UART4:</a:t>
            </a:r>
          </a:p>
        </p:txBody>
      </p:sp>
      <p:sp>
        <p:nvSpPr>
          <p:cNvPr id="63" name="Content Placeholder 10">
            <a:extLst>
              <a:ext uri="{FF2B5EF4-FFF2-40B4-BE49-F238E27FC236}">
                <a16:creationId xmlns:a16="http://schemas.microsoft.com/office/drawing/2014/main" id="{A4CA8B5F-A40D-CA1A-EAC1-953DBABCF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84" y="2052918"/>
            <a:ext cx="4221476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400" dirty="0"/>
              <a:t>Per monitorare la comunicazione sulla </a:t>
            </a:r>
            <a:r>
              <a:rPr lang="it-IT" sz="1400" b="1" dirty="0"/>
              <a:t>UART4</a:t>
            </a:r>
            <a:r>
              <a:rPr lang="it-IT" sz="1400" dirty="0"/>
              <a:t>, abbiamo configurato </a:t>
            </a:r>
            <a:r>
              <a:rPr lang="it-IT" sz="1400" b="1" dirty="0"/>
              <a:t>il timer TIM4</a:t>
            </a:r>
            <a:r>
              <a:rPr lang="it-IT" sz="1400" dirty="0"/>
              <a:t> in modo che </a:t>
            </a:r>
            <a:r>
              <a:rPr lang="it-IT" sz="1400" b="1" dirty="0"/>
              <a:t>scada dopo 10 secondi</a:t>
            </a:r>
            <a:r>
              <a:rPr lang="it-IT" sz="1400" dirty="0"/>
              <a:t> in assenza di messaggi ricevuti da B. Se entro questo tempo non arriva alcun segnale, consideriamo la connessione interrotta o malfunzionante, e il sistema manda tramite UART5 il messaggio di WAKE alla Board C.</a:t>
            </a:r>
          </a:p>
          <a:p>
            <a:pPr>
              <a:lnSpc>
                <a:spcPct val="90000"/>
              </a:lnSpc>
            </a:pPr>
            <a:r>
              <a:rPr lang="it-IT" sz="1400" dirty="0"/>
              <a:t>Qui accanto sono riportati i parametri di configurazione utilizzati per </a:t>
            </a:r>
            <a:r>
              <a:rPr lang="it-IT" sz="1400" b="1" dirty="0"/>
              <a:t>TIM4</a:t>
            </a:r>
            <a:r>
              <a:rPr lang="it-IT" sz="1400" dirty="0"/>
              <a:t>:</a:t>
            </a:r>
          </a:p>
          <a:p>
            <a:pPr>
              <a:lnSpc>
                <a:spcPct val="90000"/>
              </a:lnSpc>
            </a:pPr>
            <a:r>
              <a:rPr lang="it-IT" sz="1400" b="1" dirty="0" err="1"/>
              <a:t>Prescaler</a:t>
            </a:r>
            <a:r>
              <a:rPr lang="it-IT" sz="1400" b="1" dirty="0"/>
              <a:t> (PSC): 9599</a:t>
            </a:r>
            <a:endParaRPr lang="it-IT" sz="1400" dirty="0"/>
          </a:p>
          <a:p>
            <a:pPr>
              <a:lnSpc>
                <a:spcPct val="90000"/>
              </a:lnSpc>
            </a:pPr>
            <a:r>
              <a:rPr lang="it-IT" sz="1400" b="1" dirty="0"/>
              <a:t>Counter </a:t>
            </a:r>
            <a:r>
              <a:rPr lang="it-IT" sz="1400" b="1" dirty="0" err="1"/>
              <a:t>Period</a:t>
            </a:r>
            <a:r>
              <a:rPr lang="it-IT" sz="1400" b="1" dirty="0"/>
              <a:t> (ARR): 44999</a:t>
            </a:r>
            <a:endParaRPr lang="it-IT" sz="1400" dirty="0"/>
          </a:p>
          <a:p>
            <a:pPr>
              <a:lnSpc>
                <a:spcPct val="90000"/>
              </a:lnSpc>
            </a:pPr>
            <a:r>
              <a:rPr lang="it-IT" sz="1400" b="1" dirty="0"/>
              <a:t>Clock Source: </a:t>
            </a:r>
            <a:r>
              <a:rPr lang="it-IT" sz="1400" b="1" dirty="0" err="1"/>
              <a:t>Internal</a:t>
            </a:r>
            <a:r>
              <a:rPr lang="it-IT" sz="1400" b="1" dirty="0"/>
              <a:t> Clock</a:t>
            </a:r>
            <a:endParaRPr lang="it-IT" sz="1400" dirty="0"/>
          </a:p>
          <a:p>
            <a:pPr>
              <a:lnSpc>
                <a:spcPct val="90000"/>
              </a:lnSpc>
            </a:pPr>
            <a:r>
              <a:rPr lang="it-IT" sz="1400" b="1" dirty="0"/>
              <a:t>Modalità: Up </a:t>
            </a:r>
            <a:r>
              <a:rPr lang="it-IT" sz="1400" b="1" dirty="0" err="1"/>
              <a:t>counting</a:t>
            </a:r>
            <a:endParaRPr lang="it-IT" sz="1400" dirty="0"/>
          </a:p>
          <a:p>
            <a:pPr>
              <a:lnSpc>
                <a:spcPct val="90000"/>
              </a:lnSpc>
            </a:pPr>
            <a:r>
              <a:rPr lang="it-IT" sz="1400" dirty="0"/>
              <a:t>Timer attivato con </a:t>
            </a:r>
            <a:r>
              <a:rPr lang="it-IT" sz="1400" b="1" dirty="0"/>
              <a:t>interrupt</a:t>
            </a:r>
            <a:r>
              <a:rPr lang="it-IT" sz="1400" dirty="0"/>
              <a:t> e azzerato ad ogni ricezione corretta.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  <p:pic>
        <p:nvPicPr>
          <p:cNvPr id="4" name="Immagine 3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2F9C710B-7B90-F4A0-498E-8C5619FF5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629" y="1019015"/>
            <a:ext cx="2592157" cy="2655725"/>
          </a:xfrm>
          <a:prstGeom prst="rect">
            <a:avLst/>
          </a:prstGeom>
          <a:effectLst/>
        </p:spPr>
      </p:pic>
      <p:pic>
        <p:nvPicPr>
          <p:cNvPr id="6" name="Immagine 5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98C21D7B-538A-CA1C-5585-785DAFA82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604" y="3709641"/>
            <a:ext cx="3046046" cy="299527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97088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B684FD-76A2-8AB3-8028-40BDF92D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Timer board B</a:t>
            </a:r>
          </a:p>
        </p:txBody>
      </p:sp>
      <p:pic>
        <p:nvPicPr>
          <p:cNvPr id="5" name="Segnaposto contenuto 4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D3AB8096-52A6-593F-4C92-BCBB9E108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2681" y="1853248"/>
            <a:ext cx="4452264" cy="4402931"/>
          </a:xfrm>
        </p:spPr>
      </p:pic>
    </p:spTree>
    <p:extLst>
      <p:ext uri="{BB962C8B-B14F-4D97-AF65-F5344CB8AC3E}">
        <p14:creationId xmlns:p14="http://schemas.microsoft.com/office/powerpoint/2010/main" val="3691256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e Verifica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253701"/>
            <a:ext cx="8011152" cy="5041558"/>
          </a:xfrm>
        </p:spPr>
        <p:txBody>
          <a:bodyPr>
            <a:noAutofit/>
          </a:bodyPr>
          <a:lstStyle/>
          <a:p>
            <a:r>
              <a:rPr lang="it-IT" sz="1400" dirty="0"/>
              <a:t>Inserimento codice corretto tramite tastierino → sistema armato</a:t>
            </a:r>
          </a:p>
          <a:p>
            <a:r>
              <a:rPr lang="it-IT" sz="1400" dirty="0"/>
              <a:t>Visualizzazione dello stato del sistema su schermo LCD 16x2 (es. “ARMATO”,“ALLARME”, “DISARMATO”)</a:t>
            </a:r>
          </a:p>
          <a:p>
            <a:r>
              <a:rPr lang="it-IT" sz="1400" dirty="0"/>
              <a:t>Simulazione movimento tramite sensore HC-SR04 → rilevamento su Board B</a:t>
            </a:r>
          </a:p>
          <a:p>
            <a:r>
              <a:rPr lang="it-IT" sz="1400" dirty="0"/>
              <a:t>Verifica corretta attivazione del </a:t>
            </a:r>
            <a:r>
              <a:rPr lang="it-IT" sz="1400" dirty="0" err="1"/>
              <a:t>buzzer</a:t>
            </a:r>
            <a:r>
              <a:rPr lang="it-IT" sz="1400" dirty="0"/>
              <a:t> su Board B</a:t>
            </a:r>
          </a:p>
          <a:p>
            <a:r>
              <a:rPr lang="it-IT" sz="1400" dirty="0"/>
              <a:t>Invio automatico del messaggio “ok” da Board B a Board A ogni 5 secondi tramite UART4 gestito con TIM2)</a:t>
            </a:r>
          </a:p>
          <a:p>
            <a:r>
              <a:rPr lang="it-IT" sz="1400" dirty="0"/>
              <a:t>Board A monitora i messaggi ricevuti tramite TIM4 configurato per scadere dopo 10 secondi: se non riceve nulla, invia messaggio “WAKE” alla Board C tramite UART5</a:t>
            </a:r>
          </a:p>
          <a:p>
            <a:r>
              <a:rPr lang="it-IT" sz="1400" dirty="0"/>
              <a:t>Parametri dei timer (</a:t>
            </a:r>
            <a:r>
              <a:rPr lang="it-IT" sz="1400" dirty="0" err="1"/>
              <a:t>Prescaler</a:t>
            </a:r>
            <a:r>
              <a:rPr lang="it-IT" sz="1400" dirty="0"/>
              <a:t> e </a:t>
            </a:r>
            <a:r>
              <a:rPr lang="it-IT" sz="1400" dirty="0" err="1"/>
              <a:t>Period</a:t>
            </a:r>
            <a:r>
              <a:rPr lang="it-IT" sz="1400" dirty="0"/>
              <a:t>) scelti accuratamente per ottenere le tempistiche corrette</a:t>
            </a:r>
          </a:p>
          <a:p>
            <a:r>
              <a:rPr lang="it-IT" sz="1400" dirty="0"/>
              <a:t>Comunicazioni UART tra Board A, B e C verificate via </a:t>
            </a:r>
            <a:r>
              <a:rPr lang="it-IT" sz="1400" dirty="0" err="1"/>
              <a:t>debug</a:t>
            </a:r>
            <a:r>
              <a:rPr lang="it-IT" sz="1400" dirty="0"/>
              <a:t>, </a:t>
            </a:r>
            <a:r>
              <a:rPr lang="it-IT" sz="1400" dirty="0" err="1"/>
              <a:t>log</a:t>
            </a:r>
            <a:r>
              <a:rPr lang="it-IT" sz="1400" dirty="0"/>
              <a:t> UART e simulazioni</a:t>
            </a:r>
          </a:p>
          <a:p>
            <a:r>
              <a:rPr lang="it-IT" sz="1400" dirty="0"/>
              <a:t>Sistema testato anche in condizioni di disconnessione o blocco di una board → corretta attivazione dell’allarme verso Board C</a:t>
            </a:r>
          </a:p>
          <a:p>
            <a:r>
              <a:rPr lang="it-IT" sz="1400" dirty="0"/>
              <a:t>Tutti i componenti hardware (buzzer, tastierino, sensore HC-SR04, LCD, moduli UART) testati singolarmente e integrati con successo nel sistema</a:t>
            </a:r>
          </a:p>
          <a:p>
            <a:r>
              <a:rPr lang="it-IT" sz="1400" dirty="0"/>
              <a:t>Infine, reinserendo il codice corretto, il sistema passa allo stato disarmato, il </a:t>
            </a:r>
            <a:r>
              <a:rPr lang="it-IT" sz="1400" dirty="0" err="1"/>
              <a:t>buzzer</a:t>
            </a:r>
            <a:r>
              <a:rPr lang="it-IT" sz="1400" dirty="0"/>
              <a:t> si spegne e l’LCD aggiorna lo stato a “DISARMATO”</a:t>
            </a:r>
          </a:p>
          <a:p>
            <a:endParaRPr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Sistema </a:t>
            </a:r>
            <a:r>
              <a:rPr dirty="0" err="1"/>
              <a:t>antifurto</a:t>
            </a:r>
            <a:r>
              <a:rPr dirty="0"/>
              <a:t> </a:t>
            </a:r>
            <a:r>
              <a:rPr dirty="0" err="1"/>
              <a:t>funzionante</a:t>
            </a:r>
            <a:r>
              <a:rPr dirty="0"/>
              <a:t> e </a:t>
            </a:r>
            <a:r>
              <a:rPr dirty="0" err="1"/>
              <a:t>robusto</a:t>
            </a:r>
            <a:endParaRPr dirty="0"/>
          </a:p>
          <a:p>
            <a:r>
              <a:rPr dirty="0"/>
              <a:t>Tre board coordinate via UART</a:t>
            </a:r>
          </a:p>
          <a:p>
            <a:r>
              <a:rPr dirty="0" err="1"/>
              <a:t>Ridondanza</a:t>
            </a:r>
            <a:r>
              <a:rPr dirty="0"/>
              <a:t> </a:t>
            </a:r>
            <a:r>
              <a:rPr dirty="0" err="1"/>
              <a:t>efficace</a:t>
            </a:r>
            <a:r>
              <a:rPr dirty="0"/>
              <a:t> </a:t>
            </a:r>
            <a:r>
              <a:rPr dirty="0" err="1"/>
              <a:t>contro</a:t>
            </a:r>
            <a:r>
              <a:rPr dirty="0"/>
              <a:t> </a:t>
            </a:r>
            <a:r>
              <a:rPr dirty="0" err="1"/>
              <a:t>guasti</a:t>
            </a:r>
            <a:r>
              <a:rPr dirty="0"/>
              <a:t> o </a:t>
            </a:r>
            <a:r>
              <a:rPr dirty="0" err="1"/>
              <a:t>manomissioni</a:t>
            </a:r>
            <a:endParaRPr dirty="0"/>
          </a:p>
          <a:p>
            <a:r>
              <a:rPr dirty="0" err="1"/>
              <a:t>Codice</a:t>
            </a:r>
            <a:r>
              <a:rPr dirty="0"/>
              <a:t> </a:t>
            </a:r>
            <a:r>
              <a:rPr dirty="0" err="1"/>
              <a:t>modulare</a:t>
            </a:r>
            <a:r>
              <a:rPr dirty="0"/>
              <a:t>, </a:t>
            </a:r>
            <a:r>
              <a:rPr dirty="0" err="1"/>
              <a:t>chiaro</a:t>
            </a:r>
            <a:r>
              <a:rPr dirty="0"/>
              <a:t>, </a:t>
            </a:r>
            <a:r>
              <a:rPr dirty="0" err="1"/>
              <a:t>facilmente</a:t>
            </a:r>
            <a:r>
              <a:rPr dirty="0"/>
              <a:t> </a:t>
            </a:r>
            <a:r>
              <a:rPr dirty="0" err="1"/>
              <a:t>estendibile</a:t>
            </a:r>
            <a:endParaRPr dirty="0"/>
          </a:p>
          <a:p>
            <a:r>
              <a:rPr dirty="0" err="1"/>
              <a:t>Estensioni</a:t>
            </a:r>
            <a:r>
              <a:rPr dirty="0"/>
              <a:t> future:</a:t>
            </a:r>
          </a:p>
          <a:p>
            <a:r>
              <a:rPr dirty="0"/>
              <a:t>- </a:t>
            </a:r>
            <a:r>
              <a:rPr dirty="0" err="1"/>
              <a:t>Notifica</a:t>
            </a:r>
            <a:r>
              <a:rPr dirty="0"/>
              <a:t> Wi-Fi </a:t>
            </a:r>
            <a:r>
              <a:rPr dirty="0" err="1"/>
              <a:t>su</a:t>
            </a:r>
            <a:r>
              <a:rPr dirty="0"/>
              <a:t> smartphone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130</TotalTime>
  <Words>1412</Words>
  <Application>Microsoft Office PowerPoint</Application>
  <PresentationFormat>Presentazione su schermo (4:3)</PresentationFormat>
  <Paragraphs>124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Ione</vt:lpstr>
      <vt:lpstr>Progetto Antifurto con STM32</vt:lpstr>
      <vt:lpstr>Obiettivo del Progetto</vt:lpstr>
      <vt:lpstr>Architettura del Sistema</vt:lpstr>
      <vt:lpstr>Workflow del Sistema (Armamento)</vt:lpstr>
      <vt:lpstr>Workflow del Sistema (Disarmo)</vt:lpstr>
      <vt:lpstr>Tastierino Numerico – Funzionamento</vt:lpstr>
      <vt:lpstr>Sensore di movimento (HC-SR04) – Funzionamento</vt:lpstr>
      <vt:lpstr>Display LCD 16x2 (1/4)</vt:lpstr>
      <vt:lpstr>LCD - Display1602 (2/4)</vt:lpstr>
      <vt:lpstr>LCD - Display1602.  (3/4)</vt:lpstr>
      <vt:lpstr>LCD - Display1602.  (4/4)</vt:lpstr>
      <vt:lpstr>Comunicazione: UART</vt:lpstr>
      <vt:lpstr>Configurazione: UART</vt:lpstr>
      <vt:lpstr>Timer Board B su UART4:</vt:lpstr>
      <vt:lpstr>Timer Board A su UART4:</vt:lpstr>
      <vt:lpstr>Timer board B</vt:lpstr>
      <vt:lpstr>Test e Verifica</vt:lpstr>
      <vt:lpstr>Conclusione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Antifurto con STM32</dc:title>
  <dc:subject/>
  <dc:creator/>
  <cp:keywords/>
  <dc:description>generated using python-pptx</dc:description>
  <cp:lastModifiedBy>LUCA DE FILIPPO</cp:lastModifiedBy>
  <cp:revision>7</cp:revision>
  <dcterms:created xsi:type="dcterms:W3CDTF">2013-01-27T09:14:16Z</dcterms:created>
  <dcterms:modified xsi:type="dcterms:W3CDTF">2025-07-06T08:24:32Z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2025-06-12T09:39:44Z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ea76fc0f-d5af-4152-a1e4-2bd6366e9eb3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